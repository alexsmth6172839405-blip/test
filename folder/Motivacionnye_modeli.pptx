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f154ae33344c5e" /><Relationship Type="http://schemas.openxmlformats.org/officeDocument/2006/relationships/extended-properties" Target="/docProps/app.xml" Id="R26225051b9f14733" /><Relationship Type="http://schemas.openxmlformats.org/officeDocument/2006/relationships/officeDocument" Target="/ppt/presentation.xml" Id="Ra22f23b0f9784a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9d901cf44475b"/>
  </p:sldMasterIdLst>
  <p:notesMasterIdLst>
    <p:notesMasterId xmlns:r="http://schemas.openxmlformats.org/officeDocument/2006/relationships" r:id="Rf3fc3d838b974617"/>
  </p:notesMasterIdLst>
  <p:sldIdLst>
    <p:sldId xmlns:r="http://schemas.openxmlformats.org/officeDocument/2006/relationships" id="256" r:id="R218f3dcd0cd048a8"/>
    <p:sldId xmlns:r="http://schemas.openxmlformats.org/officeDocument/2006/relationships" id="257" r:id="Rcb911aa6c6dd4b55"/>
    <p:sldId xmlns:r="http://schemas.openxmlformats.org/officeDocument/2006/relationships" id="258" r:id="Ra0cdc6c40f5f40c6"/>
    <p:sldId xmlns:r="http://schemas.openxmlformats.org/officeDocument/2006/relationships" id="259" r:id="R250f3670ec9842be"/>
    <p:sldId xmlns:r="http://schemas.openxmlformats.org/officeDocument/2006/relationships" id="260" r:id="Rb8ade01727314a1f"/>
    <p:sldId xmlns:r="http://schemas.openxmlformats.org/officeDocument/2006/relationships" id="261" r:id="Rd5ff84b6edf34d97"/>
    <p:sldId xmlns:r="http://schemas.openxmlformats.org/officeDocument/2006/relationships" id="262" r:id="R83c26f025cae4151"/>
    <p:sldId xmlns:r="http://schemas.openxmlformats.org/officeDocument/2006/relationships" id="263" r:id="Ref2ade4ec50345bd"/>
    <p:sldId xmlns:r="http://schemas.openxmlformats.org/officeDocument/2006/relationships" id="264" r:id="Ra35604f3a78545cc"/>
    <p:sldId xmlns:r="http://schemas.openxmlformats.org/officeDocument/2006/relationships" id="265" r:id="R658137a944654d83"/>
    <p:sldId xmlns:r="http://schemas.openxmlformats.org/officeDocument/2006/relationships" id="266" r:id="R0b740c9b95064e05"/>
    <p:sldId xmlns:r="http://schemas.openxmlformats.org/officeDocument/2006/relationships" id="267" r:id="R28e5aedc30084dcb"/>
    <p:sldId xmlns:r="http://schemas.openxmlformats.org/officeDocument/2006/relationships" id="268" r:id="R6e76a07fa76847cf"/>
    <p:sldId xmlns:r="http://schemas.openxmlformats.org/officeDocument/2006/relationships" id="269" r:id="R1571a59e2eb04ba7"/>
    <p:sldId xmlns:r="http://schemas.openxmlformats.org/officeDocument/2006/relationships" id="270" r:id="Rb15c6395f96a43e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450786e7fe4369" /><Relationship Type="http://schemas.openxmlformats.org/officeDocument/2006/relationships/slideMaster" Target="/ppt/slideMasters/slideMaster1.xml" Id="R01e9d901cf44475b" /><Relationship Type="http://schemas.openxmlformats.org/officeDocument/2006/relationships/notesMaster" Target="/ppt/notesMasters/notesMaster1.xml" Id="Rf3fc3d838b974617" /><Relationship Type="http://schemas.openxmlformats.org/officeDocument/2006/relationships/presProps" Target="/ppt/presProps.xml" Id="R7ef77096680346ed" /><Relationship Type="http://schemas.openxmlformats.org/officeDocument/2006/relationships/viewProps" Target="/ppt/viewProps.xml" Id="Rb7b755b71529494f" /><Relationship Type="http://schemas.openxmlformats.org/officeDocument/2006/relationships/tableStyles" Target="/ppt/tableStyles.xml" Id="Radd6537b360a4695" /><Relationship Type="http://schemas.openxmlformats.org/officeDocument/2006/relationships/slide" Target="/ppt/slides/slide1.xml" Id="R218f3dcd0cd048a8" /><Relationship Type="http://schemas.openxmlformats.org/officeDocument/2006/relationships/slide" Target="/ppt/slides/slide2.xml" Id="Rcb911aa6c6dd4b55" /><Relationship Type="http://schemas.openxmlformats.org/officeDocument/2006/relationships/slide" Target="/ppt/slides/slide3.xml" Id="Ra0cdc6c40f5f40c6" /><Relationship Type="http://schemas.openxmlformats.org/officeDocument/2006/relationships/slide" Target="/ppt/slides/slide4.xml" Id="R250f3670ec9842be" /><Relationship Type="http://schemas.openxmlformats.org/officeDocument/2006/relationships/slide" Target="/ppt/slides/slide5.xml" Id="Rb8ade01727314a1f" /><Relationship Type="http://schemas.openxmlformats.org/officeDocument/2006/relationships/slide" Target="/ppt/slides/slide6.xml" Id="Rd5ff84b6edf34d97" /><Relationship Type="http://schemas.openxmlformats.org/officeDocument/2006/relationships/slide" Target="/ppt/slides/slide7.xml" Id="R83c26f025cae4151" /><Relationship Type="http://schemas.openxmlformats.org/officeDocument/2006/relationships/slide" Target="/ppt/slides/slide8.xml" Id="Ref2ade4ec50345bd" /><Relationship Type="http://schemas.openxmlformats.org/officeDocument/2006/relationships/slide" Target="/ppt/slides/slide9.xml" Id="Ra35604f3a78545cc" /><Relationship Type="http://schemas.openxmlformats.org/officeDocument/2006/relationships/slide" Target="/ppt/slides/slide10.xml" Id="R658137a944654d83" /><Relationship Type="http://schemas.openxmlformats.org/officeDocument/2006/relationships/slide" Target="/ppt/slides/slide11.xml" Id="R0b740c9b95064e05" /><Relationship Type="http://schemas.openxmlformats.org/officeDocument/2006/relationships/slide" Target="/ppt/slides/slide12.xml" Id="R28e5aedc30084dcb" /><Relationship Type="http://schemas.openxmlformats.org/officeDocument/2006/relationships/slide" Target="/ppt/slides/slide13.xml" Id="R6e76a07fa76847cf" /><Relationship Type="http://schemas.openxmlformats.org/officeDocument/2006/relationships/slide" Target="/ppt/slides/slide14.xml" Id="R1571a59e2eb04ba7" /><Relationship Type="http://schemas.openxmlformats.org/officeDocument/2006/relationships/slide" Target="/ppt/slides/slide15.xml" Id="Rb15c6395f96a43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dcdc165d446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e47bb3667f4dcf" /><Relationship Type="http://schemas.openxmlformats.org/officeDocument/2006/relationships/notesMaster" Target="/ppt/notesMasters/notesMaster1.xml" Id="R096be76c6db149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cd7f6ec0c4e05" /><Relationship Type="http://schemas.openxmlformats.org/officeDocument/2006/relationships/notesMaster" Target="/ppt/notesMasters/notesMaster1.xml" Id="Rd1f8237d95994b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edf564c7f64ebc" /><Relationship Type="http://schemas.openxmlformats.org/officeDocument/2006/relationships/notesMaster" Target="/ppt/notesMasters/notesMaster1.xml" Id="R04fd65d93859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2aa72ad5a4460" /><Relationship Type="http://schemas.openxmlformats.org/officeDocument/2006/relationships/notesMaster" Target="/ppt/notesMasters/notesMaster1.xml" Id="R70c6929748dc4c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25495245e4291" /><Relationship Type="http://schemas.openxmlformats.org/officeDocument/2006/relationships/notesMaster" Target="/ppt/notesMasters/notesMaster1.xml" Id="R8a10715f8f76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06054263841ed" /><Relationship Type="http://schemas.openxmlformats.org/officeDocument/2006/relationships/notesMaster" Target="/ppt/notesMasters/notesMaster1.xml" Id="R8d8be164e00c40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097c93e3ae48e4" /><Relationship Type="http://schemas.openxmlformats.org/officeDocument/2006/relationships/notesMaster" Target="/ppt/notesMasters/notesMaster1.xml" Id="Ra1ca481301af45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49d9782acf4f64" /><Relationship Type="http://schemas.openxmlformats.org/officeDocument/2006/relationships/notesMaster" Target="/ppt/notesMasters/notesMaster1.xml" Id="R6147b9f2cf9941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1f20b51af4307" /><Relationship Type="http://schemas.openxmlformats.org/officeDocument/2006/relationships/notesMaster" Target="/ppt/notesMasters/notesMaster1.xml" Id="R4998e9e549254a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de397705aa47a6" /><Relationship Type="http://schemas.openxmlformats.org/officeDocument/2006/relationships/notesMaster" Target="/ppt/notesMasters/notesMaster1.xml" Id="R5bc1bdafbba945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7cf40760924b37" /><Relationship Type="http://schemas.openxmlformats.org/officeDocument/2006/relationships/notesMaster" Target="/ppt/notesMasters/notesMaster1.xml" Id="Rbc931c450c774f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e33d2720434d2b" /><Relationship Type="http://schemas.openxmlformats.org/officeDocument/2006/relationships/notesMaster" Target="/ppt/notesMasters/notesMaster1.xml" Id="Rafc2e48e0d6748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5ac07461444ca7" /><Relationship Type="http://schemas.openxmlformats.org/officeDocument/2006/relationships/notesMaster" Target="/ppt/notesMasters/notesMaster1.xml" Id="Re2476b35315d42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2e0d77b6844b0b" /><Relationship Type="http://schemas.openxmlformats.org/officeDocument/2006/relationships/notesMaster" Target="/ppt/notesMasters/notesMaster1.xml" Id="R2bf25c9a351f40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6fef4c08494102" /><Relationship Type="http://schemas.openxmlformats.org/officeDocument/2006/relationships/notesMaster" Target="/ppt/notesMasters/notesMaster1.xml" Id="R03927c7886fc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доклада — рассмотреть, как социальные отношения, распределение результатов труда, участие работников в управлении и взаимодействие организации с внешней средой влияют на мотивацию и результаты деятельности.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мотивация зависит не только от размера заработной платы, но и от того, насколько справедливыми работник считает условия труда, доверяет ли руководству и видит ли связь между собственным вкладом и результатами организации.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аналитическая классификация для нашего доклада, а не универсальная научная классификация с общепринятым перечнем моделей. Она позволяет разделить подходы по тому, какие отношения они объясняют. При этом отдельные модели могут охватывать сразу несколько уровней.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частности, стейкхолдерский подход определяет круг учитываемых интересов, а КСО задаёт принципы и направления ответственного поведения организации по отношению к заинтересованным сторонам. Такое разграничение соответствует современным исследованиям КСО и стейкхолдер-менеджмента.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Заводчикова Т. Б. Корпоративная социальная ответственность как интегральная составляющая российского бизнеса // Вестник Самарского университета. Экономика и управление. — 2024. — Т. 15, № 3. — С. 102–112. — DOI: https://doi.org/10.18287/2542-0461-2024-15-3-102-112.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Макаров И. Н., Назаренко В. С., Дробот Е. В. Корпоративная социальная ответственность как элемент взаимодействия компании со стейкхолдерами // Социальное предпринимательство и корпоративная социальная ответственность. — 2021. — Т. 2, № 2. — С. 113–128. — DOI: https://doi.org/10.18334/social.2.2.112183.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Ткаченко И. Н., Метелева М. А. Моделирование стейкхолдерской стоимости корпоративной сети, создаваемой в процессе реализации политики социальной ответственности // Управленец. — 2023. — Т. 14, № 3. — С. 44–58. — DOI: https://doi.org/10.29141/2218-5003-2023-14-3-4.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Методологическая оговорка: рассмотрены основные подходы, релевантные теме. Предложенная классификация систематизирует их по уровням социального взаимодействия и не является исчерпывающим перечнем всех моделей.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 модель объясняет, почему сотрудники могут по-разному относиться к одинаковым условиям труда. В коллективе с благоприятным климатом человек чаще ощущает поддержку и свою значимость. В условиях постоянных конфликтов, недоверия и неуважения даже материальные стимулы могут не обеспечивать устойчивой заинтересованности в работе.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теоретическую основу здесь даёт теория справедливости Дж. Стейси Адамса. Работник оценивает не только абсолютный размер своего вознаграждения, но и соотношение собственных усилий и получаемых результатов по сравнению с другими людьми. Восприятие несправедливости может приводить к снижению усилий, конфликтам или увольнению.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Эта теория объясняет индивидуальную реакцию работника, тогда как социальное партнёрство, которое будет рассмотрено далее, представляет собой организационный механизм согласования интересов.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Адамс Дж. С. Неравенство в социальном обмене // Advances in Experimental Social Psychology. — 1965. — Т. 2. — С. 267–299. — DOI: https://doi.org/10.1016/S0065-2601(08)60108-2.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 модель позволяет согласовывать интересы сторон посредством переговоров и установленных процедур, а не только через односторонние решения руководства. В России правовая основа социального партнёрства закреплена в разделе II Трудового кодекса РФ.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Трудовой кодекс Российской Федерации от 30.12.2001 № 197-ФЗ : раздел II «Социальное партнерство в сфере труда». — URL: https://www.consultant.ru/document/cons_doc_LAW_34683/ (дата обращения: 26.10.2026).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отличие от социального партнёрства в целом, здесь основной акцент сделан на степени влияния работников на управленческие решения. Участие может быть консультативным или более глубоким, в том числе в рамках производственной демократии.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этом необходимо различать участие в обсуждении решений и право самостоятельно их принимать: объём полномочий определяется законодательством, структурой управления и правилами конкретной организации.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Кудрин А. С. К вопросу об участии представителей работников в управлении организацией в России: исторический аспект // Вестник Воронежского государственного университета. Серия: Право. — 2021. — № 1. — DOI: https://doi.org/10.17308/vsu.proc.law.2021.1/3269.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эти подходы связаны, но не тождественны. При премировании работник получает дополнительное вознаграждение, не становясь собственником бизнеса. В кооперативной модели сотрудники могут одновременно выступать работниками, участниками собственности и управления.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обоих случаях мотивационный эффект зависит от прозрачности правил, реальной связи между вкладом и вознаграждением и понимания работниками того, как формируется общий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ориентирована на долгосрочную заинтересованность человека в работе. Помимо заработной платы, значение имеют профессиональное развитие, возможность принимать самостоятельные решения и ощущение компетентности. При этом внутреннюю мотивацию не следует противопоставлять материальной: устойчивый подход учитывает обе составляющие.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Голдобин С. М. Управление персоналом на основе внутренней мотивации // Мир экономики и управления. — 2024. — Т. 24, № 2. — С. 134–150. — DOI: https://doi.org/10.25205/2542-0429-2024-24-2-134-150.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Харченко В. С. Мотивация и мотивационные профили сотрудников современных организаций // Социологическая наука и социальная практика. — 2021. — Т. 9, № 1. — С. 156–171. — DOI: https://doi.org/10.19181/snsp.2021.9.1.7879.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рамках стейкхолдерского подхода организация рассматривается как участник сети взаимосвязанных отношений. Её устойчивость зависит не только от интересов собственников, но и от качества отношений с другими группами.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Например, игнорирование потребностей работников может усиливать текучесть кадров, а отсутствие диалога с местным сообществом — приводить к конфликтам вокруг деятельности предприятия. Стейкхолдерская модель помогает выявить такие интересы и определить способы их согласования.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Ткаченко И. Н., Метелева М. А. Моделирование стейкхолдерской стоимости корпоративной сети, создаваемой в процессе реализации политики социальной ответственности // Управленец. — 2023. — Т. 14, № 3. — С. 44–58. — DOI: https://doi.org/10.29141/2218-5003-2023-14-3-4.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Фримен Р. Э. Strategic Management: A Stakeholder Approach. — Boston : Pitman, 1984. — 276 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стейкхолдерский подход определяет, чьи интересы необходимо учитывать, а КСО помогает перевести это понимание в практические действия и управленческие решения. Поэтому КСО не следует выделять как полностью независимую от стейкхолдерской модели концепцию: она тесно с ней связана, хотя имеет собственное содержание и инструменты реализации.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КСО может влиять на мотивацию через чувство социальной значимости работы, доверие к организации и гордость за её деятельность. Но этот эффект возникает не автоматически: внешняя благотворительность не компенсирует несправедливое отношение к собственным сотрудникам. Современные российские исследования рассматривают КСО именно в связи с интересами стейкхолдеров, устойчивым развитием и коммуникацией организации с внешней средой.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Абрамов Р. Н. Подходы к принципам корпоративной социальной ответственности и ESG в России: на примере ведущих институциональных акторов // Общественные науки и современность. — 2025. — № 2. — С. 7–20. — URL: https://publications.hse.ru/articles/1076741915 (дата обращения: 26.10.2026).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Заводчикова Т. Б. Корпоративная социальная ответственность как интегральная составляющая российского бизнеса // Вестник Самарского университета. Экономика и управление. — 2024. — Т. 15, № 3. — С. 102–112. — DOI: https://doi.org/10.18287/2542-0461-2024-15-3-102-112.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Заводчикова Т. Б. Нефинансовая отчетность как коммуникативный инструмент корпоративной социальной ответственности // Вестник Самарского университета. Экономика и управление. — 2024. — Т. 15, № 4. — С. 213–222. — DOI: https://doi.org/10.18287/2542-0461-2024-15-4-213-222.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Макаров И. Н., Назаренко В. С., Дробот Е. В. Корпоративная социальная ответственность как элемент взаимодействия компании со стейкхолдерами // Социальное предпринимательство и корпоративная социальная ответственность. — 2021. — Т. 2, № 2. — С. 113–128. — DOI: https://doi.org/10.18334/social.2.2.112183.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государство устанавливает правовые рамки трудовых отношений, определяет обязательные социальные гарантии и реализует политику в сфере занятости. Муниципальные органы могут содействовать развитию местного рынка труда, сотрудничеству с образовательными организациями и решению вопросов территориального развития.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Важно различать обязательное соблюдение законодательства и добровольное социальное партнёрство: выполнение требований закона является обязанностью организации, а совместные программы развития представляют собой дополнительный механизм взаимодействия.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Трудовой кодекс Российской Федерации от 30.12.2001 № 197-ФЗ : раздел II «Социальное партнерство в сфере труда». — URL: https://www.consultant.ru/document/cons_doc_LAW_34683/ (дата обращения: 26.10.2026).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реальной организации редко бывает достаточно одного мотивационного инструмента. Необходимо выявить причины проблемы и сочетать подходы. При этом результаты можно оценивать по текучести кадров, вовлечённости, количеству предложений работников, производительности и качеству взаимодействия с внешними участниками.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Пример условный: это иллюстрация того, как несколько моделей могут работать одновременно.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ни одна модель не гарантирует роста мотивации сама по себе. Результат зависит от условий реализации, организационной культуры, ресурсов и характера трудовых отношений. Поэтому важны не только сами мероприятия, но и то, насколько последовательно организация их реализует.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таким образом, мотивационные модели на основе социальных факторов производства следует рассматривать как систему взаимосвязанных подходов. На уровне работника они объясняют роль справедливости, доверия и развития; на уровне организации — способы согласования интересов и участия в управлении; на уровне внешней среды — ответственность бизнеса перед обществом и взаимодействие с государством. Их общая задача — создать условия, при которых интересы участников не просто сталкиваются, а согласуются в процессе совместной деятельности.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СПИСОК ЛИТЕРАТУРЫ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Научные издания и статьи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Абрамов Р. Н. Подходы к принципам корпоративной социальной ответственности и ESG в России: на примере ведущих институциональных акторов // Общественные науки и современность. — 2025. — № 2. — С. 7–20. — URL: https://publications.hse.ru/articles/1076741915 (дата обращения: 26.10.2026).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Адамс Дж. С. Неравенство в социальном обмене // Advances in Experimental Social Psychology. — 1965. — Т. 2. — С. 267–299. — DOI: https://doi.org/10.1016/S0065-2601(08)60108-2.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Голдобин С. М. Управление персоналом на основе внутренней мотивации // Мир экономики и управления. — 2024. — Т. 24, № 2. — С. 134–150. — DOI: https://doi.org/10.25205/2542-0429-2024-24-2-134-150.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Заводчикова Т. Б. Корпоративная социальная ответственность как интегральная составляющая российского бизнеса // Вестник Самарского университета. Экономика и управление. — 2024. — Т. 15, № 3. — С. 102–112. — DOI: https://doi.org/10.18287/2542-0461-2024-15-3-102-112.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Заводчикова Т. Б. Нефинансовая отчетность как коммуникативный инструмент корпоративной социальной ответственности // Вестник Самарского университета. Экономика и управление. — 2024. — Т. 15, № 4. — С. 213–222. — DOI: https://doi.org/10.18287/2542-0461-2024-15-4-213-222.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Кудрин А. С. К вопросу об участии представителей работников в управлении организацией в России: исторический аспект // Вестник Воронежского государственного университета. Серия: Право. — 2021. — № 1. — DOI: https://doi.org/10.17308/vsu.proc.law.2021.1/3269.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Макаров И. Н., Назаренко В. С., Дробот Е. В. Корпоративная социальная ответственность как элемент взаимодействия компании со стейкхолдерами // Социальное предпринимательство и корпоративная социальная ответственность. — 2021. — Т. 2, № 2. — С. 113–128. — DOI: https://doi.org/10.18334/social.2.2.112183.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Ткаченко И. Н., Метелева М. А. Моделирование стейкхолдерской стоимости корпоративной сети, создаваемой в процессе реализации политики социальной ответственности // Управленец. — 2023. — Т. 14, № 3. — С. 44–58. — DOI: https://doi.org/10.29141/2218-5003-2023-14-3-4.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Фримен Р. Э. Strategic Management: A Stakeholder Approach. — Boston : Pitman, 1984. — 276 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Харченко В. С. Мотивация и мотивационные профили сотрудников современных организаций // Социологическая наука и социальная практика. — 2021. — Т. 9, № 1. — С. 156–171. — DOI: https://doi.org/10.19181/snsp.2021.9.1.7879.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Электронные ресурсы и нормативные документы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Вестник Самарского университета. Экономика и управление : научный журнал. — URL: https://journals.ssau.ru/eco/ (дата обращения: 26.10.2026).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Общественные науки и современность : научный журнал. — URL: https://onsras.ru/ (дата обращения: 26.10.2026).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Трудовой кодекс Российской Федерации от 30.12.2001 № 197-ФЗ : раздел II «Социальное партнерство в сфере труда». — URL: https://www.consultant.ru/document/cons_doc_LAW_34683/ (дата обращения: 26.10.2026).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11de4c7d943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8fcf86e8b48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1a87aac484f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7cdc0807443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179c2050240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dbd53f37a4b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33d23762747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e994f326549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b502aa3ad4c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1b64bb4d64c9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c78c1180a46ef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B7919AE-B690-C2FE-9D67-324F91001A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C850FB47-C05F-DFA2-4922-92E2249AC5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7DFF8D8-0F5A-71DD-5591-F5BDC2BD20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0F34497-78DE-8828-3040-28C3AE959A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7BFB036-5F7A-2023-A2B1-599DE7DAA1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B52ACEA-C0D0-5169-D23C-2B28E7CB4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D7FDB08-F4B5-2FB5-D8A1-7F912CD4A2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3920BD6B-F6D6-A509-D54D-1F4EAC59A7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9F01DF0-5E3E-7F51-248E-DC3CF7A919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8EF1855-CC07-BA7A-55D0-3B27FF3D9C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FB6EEE6-26C7-1A24-D680-A6244CEA0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98FBF0B-3B29-D538-169E-85B45C5828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80FF53A-1420-166F-5D0D-BA0C0DF003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B81B0B5-B17D-B545-B5AA-67A001C07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0FA09F6-5856-E22B-4E98-E2352227BF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83746C4-28D3-27B0-F5CA-A9B976425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E5CA2C5C-5FA8-8CC2-4767-F951ABE370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3AF54915-161E-25AD-EAF2-C712A9D9B4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DA467454-C2FA-DCAD-BED9-D09726DF5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D02DE143-0DC4-9E6F-A851-99861B7E91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BB0A7A24-B013-70DF-BDB9-A4B41E44C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2E53B5C-AF33-1008-A56F-184E82C53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E08F5BA8-85D7-1E6E-6B05-CECC4F1E8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735438D9-50E0-005B-02A1-70D944D520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B913E8C9-1AD3-B991-58B6-C5AAC40A7A3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DE368044-AD4F-68EE-5A29-1CE70DC49A9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44329AF1-B053-87B2-F467-17068D2620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A1DD1170-F6CF-3EC8-E63C-B5AE07C97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DFA88B5B-7396-503F-11F0-D343985647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A1B9CB4-D50E-0504-4C2B-EF4959B28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9452AA30-1231-1725-B04F-4ECB4825BC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C0FC53F8-213D-1C59-78C3-F73B43C55A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1310E751-3825-E109-6E41-118D9212D0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AAA2B1F3-F73F-4A45-1231-43D5550F54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CAC977EF-E839-B88A-B8D7-734B307CE4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914A797F-5809-CE91-FC37-C6E214505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20B454E-4B54-D447-D3BF-1ABADE394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ECB5F9D3-8410-F67E-B46E-4328B182BF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76EFA03E-815C-214D-DD2C-C606723E69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9824DC54-820D-FF12-3FEF-B7ADAEE7B2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A6AA906-6275-45DC-98EB-9BEC510D55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3ED057D0-BC76-E364-FD55-FFF5CCFB1E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9E3BEF6-276D-860C-D0DE-42CC8CADE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7BAEB083-E98E-94B9-0376-0D4E2E3083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951853D8-1419-018B-BC48-348A5DA56B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A574ACA3-CF67-7AAC-B317-7CFA30B8FF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25BC6FB4-784E-2686-5D43-AAC0AA7E8D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FEFD556B-9BF0-483F-B05C-297A067E43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89981C1-1D34-4EA4-875E-02C8B359C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6BF55F4D-4320-F0B8-D761-BE6C1519B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523634D5-881F-8356-385D-7142DB5125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7F92E3A-4AAD-0144-2C3E-0022ADDD6E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4104948-C0E9-5A9B-21D7-DADF6CA535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FC098BB-F527-2ADC-94B0-6FD83F8C2B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FD804290-8805-7B43-155D-0ADBB06746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51695A6-9D1C-82AE-7028-3E26D686A7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0F2C99E-5BE1-45B0-465C-F62C9CA4ED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60832D7-5421-06C5-DCF1-4EE8D9F1DC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602f5ce7bd40df" /><Relationship Type="http://schemas.openxmlformats.org/officeDocument/2006/relationships/slideLayout" Target="/ppt/slideLayouts/slideLayout1.xml" Id="R02766eaf2e174151" /><Relationship Type="http://schemas.openxmlformats.org/officeDocument/2006/relationships/slideLayout" Target="/ppt/slideLayouts/slideLayout2.xml" Id="R29a979e73b594dda" /><Relationship Type="http://schemas.openxmlformats.org/officeDocument/2006/relationships/slideLayout" Target="/ppt/slideLayouts/slideLayout3.xml" Id="R9254d9f68b2149c7" /><Relationship Type="http://schemas.openxmlformats.org/officeDocument/2006/relationships/slideLayout" Target="/ppt/slideLayouts/slideLayout4.xml" Id="R9f2a8191e5c84957" /><Relationship Type="http://schemas.openxmlformats.org/officeDocument/2006/relationships/slideLayout" Target="/ppt/slideLayouts/slideLayout5.xml" Id="R13f8d52186f349f5" /><Relationship Type="http://schemas.openxmlformats.org/officeDocument/2006/relationships/slideLayout" Target="/ppt/slideLayouts/slideLayout6.xml" Id="R5fc448da702644f3" /><Relationship Type="http://schemas.openxmlformats.org/officeDocument/2006/relationships/slideLayout" Target="/ppt/slideLayouts/slideLayout7.xml" Id="Rf370657a108f4195" /><Relationship Type="http://schemas.openxmlformats.org/officeDocument/2006/relationships/slideLayout" Target="/ppt/slideLayouts/slideLayout8.xml" Id="R5534646b2de5492e" /><Relationship Type="http://schemas.openxmlformats.org/officeDocument/2006/relationships/slideLayout" Target="/ppt/slideLayouts/slideLayout9.xml" Id="R02299477dcad4019" /><Relationship Type="http://schemas.openxmlformats.org/officeDocument/2006/relationships/slideLayout" Target="/ppt/slideLayouts/slideLayout10.xml" Id="R1213050e9c454b38" /><Relationship Type="http://schemas.openxmlformats.org/officeDocument/2006/relationships/slideLayout" Target="/ppt/slideLayouts/slideLayout11.xml" Id="R8916a8b083464aa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1C5B472-7332-38DD-27A0-E24747928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07CD9DB-A1A6-763E-0CE6-518F9C17C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44C0628-4E6E-99FF-0079-964464B100E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05F4-CFB1-E24F-A0AE-225591860770}" type="datetimeFigureOut">
              <a:t>10/20/2026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C1B32BA-AB3C-6D76-46FE-6BCEE38E3B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657BDA2-2AEB-B00C-3F24-04E71D2C9F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27511FB-768D-FF42-B77A-E5CE888DD3C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66eaf2e174151"/>
    <p:sldLayoutId xmlns:r="http://schemas.openxmlformats.org/officeDocument/2006/relationships" id="2147483650" r:id="R29a979e73b594dda"/>
    <p:sldLayoutId xmlns:r="http://schemas.openxmlformats.org/officeDocument/2006/relationships" id="2147483651" r:id="R9254d9f68b2149c7"/>
    <p:sldLayoutId xmlns:r="http://schemas.openxmlformats.org/officeDocument/2006/relationships" id="2147483652" r:id="R9f2a8191e5c84957"/>
    <p:sldLayoutId xmlns:r="http://schemas.openxmlformats.org/officeDocument/2006/relationships" id="2147483653" r:id="R13f8d52186f349f5"/>
    <p:sldLayoutId xmlns:r="http://schemas.openxmlformats.org/officeDocument/2006/relationships" id="2147483654" r:id="R5fc448da702644f3"/>
    <p:sldLayoutId xmlns:r="http://schemas.openxmlformats.org/officeDocument/2006/relationships" id="2147483655" r:id="Rf370657a108f4195"/>
    <p:sldLayoutId xmlns:r="http://schemas.openxmlformats.org/officeDocument/2006/relationships" id="2147483656" r:id="R5534646b2de5492e"/>
    <p:sldLayoutId xmlns:r="http://schemas.openxmlformats.org/officeDocument/2006/relationships" id="2147483657" r:id="R02299477dcad4019"/>
    <p:sldLayoutId xmlns:r="http://schemas.openxmlformats.org/officeDocument/2006/relationships" id="2147483658" r:id="R1213050e9c454b38"/>
    <p:sldLayoutId xmlns:r="http://schemas.openxmlformats.org/officeDocument/2006/relationships" id="2147483659" r:id="R8916a8b083464aa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c6bb25b449c6" /><Relationship Type="http://schemas.openxmlformats.org/officeDocument/2006/relationships/image" Target="/ppt/media/image.jpeg" Id="R17f168faee784af0" /><Relationship Type="http://schemas.openxmlformats.org/officeDocument/2006/relationships/notesSlide" Target="/ppt/notesSlides/notesSlide1.xml" Id="R4ddfa37a939e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10aed4ba24947" /><Relationship Type="http://schemas.openxmlformats.org/officeDocument/2006/relationships/image" Target="/ppt/media/image2.jpeg" Id="Rc06c08f7b2b045c3" /><Relationship Type="http://schemas.openxmlformats.org/officeDocument/2006/relationships/notesSlide" Target="/ppt/notesSlides/notesSlide2.xml" Id="Rf42bf1d93b454f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e751923e740c7" /><Relationship Type="http://schemas.openxmlformats.org/officeDocument/2006/relationships/image" Target="/ppt/media/image2.jpeg" Id="R53d90ef95803464b" /><Relationship Type="http://schemas.openxmlformats.org/officeDocument/2006/relationships/notesSlide" Target="/ppt/notesSlides/notesSlide3.xml" Id="Rb42a956c562d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59fc8e9fd4cd9" /><Relationship Type="http://schemas.openxmlformats.org/officeDocument/2006/relationships/image" Target="/ppt/media/image2.jpeg" Id="Ra516f769682644f5" /><Relationship Type="http://schemas.openxmlformats.org/officeDocument/2006/relationships/notesSlide" Target="/ppt/notesSlides/notesSlide4.xml" Id="Rdbf296cf800e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0d992d3d04c92" /><Relationship Type="http://schemas.openxmlformats.org/officeDocument/2006/relationships/image" Target="/ppt/media/image2.jpeg" Id="R6b27adf4fb934dcb" /><Relationship Type="http://schemas.openxmlformats.org/officeDocument/2006/relationships/notesSlide" Target="/ppt/notesSlides/notesSlide5.xml" Id="R8ef137e2024d46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c9f8bb0b74707" /><Relationship Type="http://schemas.openxmlformats.org/officeDocument/2006/relationships/image" Target="/ppt/media/image2.jpeg" Id="R9907c0f93fc74ed5" /><Relationship Type="http://schemas.openxmlformats.org/officeDocument/2006/relationships/notesSlide" Target="/ppt/notesSlides/notesSlide6.xml" Id="Rd1ea436093ce46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058b286664d8b" /><Relationship Type="http://schemas.openxmlformats.org/officeDocument/2006/relationships/image" Target="/ppt/media/image2.jpeg" Id="R27e84d1f7c9f4179" /><Relationship Type="http://schemas.openxmlformats.org/officeDocument/2006/relationships/notesSlide" Target="/ppt/notesSlides/notesSlide7.xml" Id="R9eb9837058b845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80edc261d47bb" /><Relationship Type="http://schemas.openxmlformats.org/officeDocument/2006/relationships/image" Target="/ppt/media/image2.jpeg" Id="Ra0bac41e42a246c5" /><Relationship Type="http://schemas.openxmlformats.org/officeDocument/2006/relationships/notesSlide" Target="/ppt/notesSlides/notesSlide8.xml" Id="Ra7d84658808d43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7a51b470743b1" /><Relationship Type="http://schemas.openxmlformats.org/officeDocument/2006/relationships/image" Target="/ppt/media/image2.jpeg" Id="Rbd7b48b668084133" /><Relationship Type="http://schemas.openxmlformats.org/officeDocument/2006/relationships/notesSlide" Target="/ppt/notesSlides/notesSlide9.xml" Id="Ra69b5f57bd2f40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c2203481e4aad" /><Relationship Type="http://schemas.openxmlformats.org/officeDocument/2006/relationships/image" Target="/ppt/media/image2.jpeg" Id="Rbddea10e7eb140d9" /><Relationship Type="http://schemas.openxmlformats.org/officeDocument/2006/relationships/notesSlide" Target="/ppt/notesSlides/notesSlide10.xml" Id="R4c6230a8be9243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57bf703a64a64" /><Relationship Type="http://schemas.openxmlformats.org/officeDocument/2006/relationships/image" Target="/ppt/media/image2.jpeg" Id="R390934f5782f4890" /><Relationship Type="http://schemas.openxmlformats.org/officeDocument/2006/relationships/notesSlide" Target="/ppt/notesSlides/notesSlide11.xml" Id="R84241e929d9443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c958c463141e6" /><Relationship Type="http://schemas.openxmlformats.org/officeDocument/2006/relationships/image" Target="/ppt/media/image2.jpeg" Id="R64e74d1450fe4a42" /><Relationship Type="http://schemas.openxmlformats.org/officeDocument/2006/relationships/notesSlide" Target="/ppt/notesSlides/notesSlide12.xml" Id="R1a77ea09203348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e37e61ca14883" /><Relationship Type="http://schemas.openxmlformats.org/officeDocument/2006/relationships/image" Target="/ppt/media/image2.jpeg" Id="Rcdc32906b51f4ee1" /><Relationship Type="http://schemas.openxmlformats.org/officeDocument/2006/relationships/notesSlide" Target="/ppt/notesSlides/notesSlide13.xml" Id="Rde4f1301d9b64b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89f50b7f1430a" /><Relationship Type="http://schemas.openxmlformats.org/officeDocument/2006/relationships/image" Target="/ppt/media/image2.jpeg" Id="R1eeb9cdebd7644dd" /><Relationship Type="http://schemas.openxmlformats.org/officeDocument/2006/relationships/notesSlide" Target="/ppt/notesSlides/notesSlide14.xml" Id="R6c2bd3e7a68c43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418c5e37a4240" /><Relationship Type="http://schemas.openxmlformats.org/officeDocument/2006/relationships/image" Target="/ppt/media/image2.jpeg" Id="R58a95ca494b046ad" /><Relationship Type="http://schemas.openxmlformats.org/officeDocument/2006/relationships/notesSlide" Target="/ppt/notesSlides/notesSlide15.xml" Id="Rad46804742e54b42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f168faee784af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9007E2-9D2B-4F99-A2F3-6C525BF5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6229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Мотивационные модели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на основе социальных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факторов производства</a:t>
            </a:r>
          </a:p>
        </p:txBody>
      </p:sp>
      <p:sp>
        <p:nvSpPr>
          <p:cNvPr id="2" name="bullet">
            <a:extLst xmlns:a="http://schemas.openxmlformats.org/drawingml/2006/main">
              <a:ext uri="{FF2B5EF4-FFF2-40B4-BE49-F238E27FC236}">
                <a16:creationId xmlns:a16="http://schemas.microsoft.com/office/drawing/2014/main" id="{02DA1786-073B-4E7B-BFB7-083941B8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43350"/>
            <a:ext cx="58293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t>Социальные факторы трудовой</a:t>
            </a:r>
            <a:br/>
            <a:r>
              <a:t>мотивации.</a:t>
            </a:r>
          </a:p>
        </p:txBody>
      </p:sp>
      <p:sp>
        <p:nvSpPr>
          <p:cNvPr id="3" name="bullet">
            <a:extLst xmlns:a="http://schemas.openxmlformats.org/drawingml/2006/main">
              <a:ext uri="{FF2B5EF4-FFF2-40B4-BE49-F238E27FC236}">
                <a16:creationId xmlns:a16="http://schemas.microsoft.com/office/drawing/2014/main" id="{0C8C6124-0336-4FD9-A49A-4DD6A74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03115"/>
            <a:ext cx="58293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t>Согласование интересов участников</a:t>
            </a:r>
            <a:br/>
            <a:r>
              <a:t>производства.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F6040C8F-6101-479C-B32F-B8E4D3E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62880"/>
            <a:ext cx="58293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t>Взаимодействие организации с</a:t>
            </a:r>
            <a:br/>
            <a:r>
              <a:t>обществом и государством.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E65AAD70-C9F5-4550-B776-AD511EC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22645"/>
            <a:ext cx="58293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t>Условия эффективности социальных</a:t>
            </a:r>
            <a:br/>
            <a:r>
              <a:t>мотивационных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1790983312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06c08f7b2b045c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73D285-A76A-46A4-9445-27C5B61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524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Социальные факторы производства 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мотивация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83956B-2BF4-4930-A194-3E95E5E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90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Социальные факторы производства — условия и отношения,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возникающие в процессе совместной трудовой деятельности и влияющие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на положение, поведение и заинтересованность её участников.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8474B97-562D-4EFA-9350-A8D35417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57556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Основные факторы: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53DAA913-9B9B-4702-ABAB-D27600B2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03403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отношения между собственниками, руководством и работниками;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551D79BF-1515-402E-898E-3661FA24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49250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условия и справедливость оплаты труда;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887BB282-9675-43F3-990F-1F68EA67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95097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участие работников в принятии решений;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89083834-87EA-423A-ABA9-4754BA01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40944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социально-психологический климат;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095185D6-6EF5-4507-8FE9-357FE0E3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86791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профессиональное развитие и социальные гарантии;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24C2B50B-68E8-4583-B69A-66EF617E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532638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отношения организации с обществом и государством.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3d90ef95803464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CA024E-4A2B-4872-80A8-AC3F29F0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524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Классификация социальных мотивационных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моделей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D85EDD-4727-45CD-8F71-91886260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Для анализа темы выделим три уровня.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1CDB18B-0725-42ED-9F63-29A138E8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01104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1. Уровень работника и коллектива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048082E-0E10-4BD0-BC1F-AC6F43A0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39331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Социально-психологические отношения, справедливость, доверие,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внутренняя мотивация.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BD8293C-4EAF-4F5E-862C-1B0B130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2453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2. Уровень организации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CC47A65-7C84-47FC-AA86-F0E92D9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606800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Социальное партнёрство, участие в управлении, распределение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результатов труда, кооперативные формы.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A7075DF-1A52-465B-9801-3487B5E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43801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3. Уровень организации и внешней среды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E411197-7961-4B45-8EA1-B41FC715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82028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Стейкхолдерский подход, корпоративная социальная ответственность,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социальное партнёрство с государством и местными сообществами.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16f769682644f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8FB6B2-9CFF-466D-8D16-4EE2352B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Социально-психологическая модель мотивации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E0860D-692C-4051-8F12-A3B905E0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Мотивация формируется под влиянием отношений в коллективе 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взаимодействия с руководителем.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955656A-FF1F-4DC5-8106-82CECC4A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28854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Основные механизмы: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D0EA51EA-510A-4785-BE4A-3C98FF34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74701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чувство принадлежности к коллективу;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39267012-ECE1-4343-9980-E6557EBF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0548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признание и уважение;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5AF6E4DD-BBF6-4DEC-918C-00D7BF5E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66395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доверие к руководителю;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DBE6FD78-CBCD-45EA-A956-99269578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12242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групповая поддержка;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6D7F9689-2097-4418-B8DC-BB5D12BF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58089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справедливое отношение к сотрудникам.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b27adf4fb934dc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3D22B5-269B-4E7C-842F-E8EF0906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524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Модель справедливости и согласования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интересов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52D905-43AF-4498-A47C-D0DE82A9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Основа модели — восприятие работниками справедливости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вознаграждения и организационных решений.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7D40610-69B2-480F-A5A0-2403C005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28854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Основные условия: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62B568FA-9D5C-419B-908B-29A355A0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74701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понятные критерии оценки труда;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56D93500-F25C-4EE1-93CB-B0DBA47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0548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прозрачные правила премирования;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8959464F-B280-48DD-A01E-7F093AA7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66395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сопоставимость вклада и вознаграждения;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BE57D993-E522-401A-A08E-ACD25357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12242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равное отношение к сотрудникам в аналогичных ситуациях;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02294B1C-85D4-41B6-8AC0-546F389A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58089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возможность обжаловать необоснованные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907c0f93fc74ed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12D9F2-63CF-41E5-8E6B-D721C5D7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Модель социального партнёрства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7CFEEB-7770-442A-BAF8-A7D78441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1195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Социальное партнёрство — взаимодействие работников 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работодателей, а в предусмотренных законом случаях также органов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государственной власти и местного самоуправления, направленное на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согласование интересов в сфере труда.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C4F731E-E755-47CB-8337-A706A26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86258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Инструменты: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137D276B-E014-4149-B5AA-74FFB600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32105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коллективные переговоры;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24A77A0A-1137-4AB4-8136-EC9C30F7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77952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коллективные договоры и соглашения;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FBB85E7D-53B8-4992-B31B-D86B6775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23799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консультации по трудовым вопросам;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8B9B0B39-C501-4E4F-8FD1-1C16D82B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69646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участие представителей работников в разрешении конфликтов;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78873D1D-5E28-450E-9E4B-CCFF7E1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515493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согласование условий труда и социальных гарантий.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e84d1f7c9f417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B18AF-471B-474F-A486-DC7C4D4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Участие работников в управлении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DD146D-EBFE-4E1A-9013-CA4A6B71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Работники получают возможность влиять на решения, затрагивающие их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трудовую деятельность и развитие организации.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116BFF6-CD0C-471D-95D6-F67AF1AA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28854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Формы участия: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728CED98-EFF2-4FC0-8B73-64B2D246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74701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обсуждение организации труда и графиков;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71AA444E-540C-46A1-BC55-7D70FE0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0548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рабочие группы и производственные совещания;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AA39907E-2AC9-428C-B57C-72C98D78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66395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внесение предложений по улучшению процессов;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58786592-6B7A-4340-B0BB-C97CA37F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122420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представительство работников в предусмотренных законом и</a:t>
            </a:r>
            <a:br/>
            <a:r>
              <a:t>внутренними процедурами органах;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F4CF8D47-DAEF-400A-B145-D2E7A277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86791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участие в обсуждении организационных изменений.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0bac41e42a246c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C56174-D219-470F-9DF2-055B16C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524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Участие в результатах труда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и кооперативная модель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361B5B-5978-4984-8D7F-0534E79B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619250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Участие в результатах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деятельности:</a:t>
            </a:r>
          </a:p>
        </p:txBody>
      </p:sp>
      <p:sp>
        <p:nvSpPr>
          <p:cNvPr id="3" name="bullet">
            <a:extLst xmlns:a="http://schemas.openxmlformats.org/drawingml/2006/main">
              <a:ext uri="{FF2B5EF4-FFF2-40B4-BE49-F238E27FC236}">
                <a16:creationId xmlns:a16="http://schemas.microsoft.com/office/drawing/2014/main" id="{2E757266-24EE-4D95-8D36-E1D0749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45046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премии за индивидуальные и</a:t>
            </a:r>
            <a:br/>
            <a:r>
              <a:t>коллективные показатели;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B8438225-3150-4482-BA8F-5919AF2D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43580"/>
            <a:ext cx="485775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распределение части прибыли;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22D788F2-3B3C-474C-9A54-4B1D14D5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74967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вознаграждение за</a:t>
            </a:r>
            <a:br/>
            <a:r>
              <a:t>реализованные предложения.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0E1A7A5-2C63-451E-9658-8D1A0CC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619250"/>
            <a:ext cx="485775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Кооперативная модель: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F008F5C9-70EE-48E5-8D5C-DF9E9F7A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216344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участие работников в</a:t>
            </a:r>
            <a:br/>
            <a:r>
              <a:t>собственности;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C0208BD6-7E76-4C0A-9BC0-62FFEC2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2956560"/>
            <a:ext cx="485775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совместное принятие решений;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B8702304-50FD-4D49-ADF5-7198812F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346265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распределение доходов по</a:t>
            </a:r>
            <a:br/>
            <a:r>
              <a:t>установленным правилам;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A0C0F9AD-82D3-42DB-9898-75676D19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4255770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коллективная ответственность</a:t>
            </a:r>
            <a:br/>
            <a:r>
              <a:t>за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7b48b6680841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46813B-4940-4145-BBD2-305ABBFD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Развитие персонала и внутренняя мотивация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879BB4-C003-4E8B-812E-FE64C804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Основные механизмы:</a:t>
            </a:r>
          </a:p>
        </p:txBody>
      </p:sp>
      <p:sp>
        <p:nvSpPr>
          <p:cNvPr id="3" name="bullet">
            <a:extLst xmlns:a="http://schemas.openxmlformats.org/drawingml/2006/main">
              <a:ext uri="{FF2B5EF4-FFF2-40B4-BE49-F238E27FC236}">
                <a16:creationId xmlns:a16="http://schemas.microsoft.com/office/drawing/2014/main" id="{30EAB1F0-C9BF-4271-B112-CEAF457B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91579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профессиональное обучение и наставничество;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F782902F-B30E-418C-8055-B25BCD5F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37426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карьерное продвижение;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BED90432-43AF-4FE6-B759-5953C74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83273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самостоятельность в выполнении задач;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1E8A4843-72C2-4A0F-B23E-0D37A18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9120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признание профессиональных достижений;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8D9CFC45-C5CB-4F09-88B7-F5B78F14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74967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содержательная обратная связь;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5B6F0BC2-97D5-4A4B-9E1D-7B201D7B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20814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возможность осваивать новые компетенции.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dea10e7eb140d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540976-17D9-4D37-ADD5-DFF45DEF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Стейкхолдерская модель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5DE6DC-4843-46CD-8724-DB7D496C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90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Стейкхолдерский подход предполагает учёт интересов групп, которые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влияют на деятельность организации или испытывают на себе её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последствия.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9BB044F-7339-456B-BE5D-3C6ECC3E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57556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Основные заинтересованные стороны: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0536ADA5-CD9C-4231-AE7C-F012E3C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03403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собственники и инвесторы;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FC07EACB-17D6-45DD-8CCF-E3BE7F78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49250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руководство и работники;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31489EB9-5F9A-437C-B5BC-71F15382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95097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потребители и поставщики;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A9E61154-3914-45F4-9372-B4306D9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40944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местные сообщества и общественные организации;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68BAB8C8-5242-4231-9F2D-B5EA1C50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86791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государственные и муниципальные органы.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0934f5782f489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90EE6-D220-4251-8B51-AD63CB6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524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КСО как механизм реализации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стейкхолдерского подхода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6CB2FC-200F-4178-9EE1-C993F19B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90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КСО — подход к ведению деятельности, предполагающий учёт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социальных и экологических последствий решений организации и её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ответственности перед заинтересованными сторонами.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7B32CD0-4A18-4C76-A2FB-36A96A78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575560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Основные направления: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66BAF126-0408-468B-ADEE-FD771C6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034030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Перед работниками: безопасность, социальные гарантии, развитие и</a:t>
            </a:r>
            <a:br/>
            <a:r>
              <a:t>равные возможности.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05D45761-3215-46BD-8C79-8922716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75094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Перед потребителями: качество продукции и соблюдение</a:t>
            </a:r>
            <a:br/>
            <a:r>
              <a:t>обязательств.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DDA1321F-16D7-47C4-A1FB-662E093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467860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Перед местными сообществами: поддержка общественных и</a:t>
            </a:r>
            <a:br/>
            <a:r>
              <a:t>образовательных проектов.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C2B04328-CD89-4E6A-8FFC-9C767EF5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518477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Перед обществом и государством: соблюдение законодательства,</a:t>
            </a:r>
            <a:br/>
            <a:r>
              <a:t>прозрачность и ответственное поведение.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0518CD10-3F4C-4C6C-ACBA-88BA78B8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5901690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Перед окружающей средой: снижение негативного экологического</a:t>
            </a:r>
            <a:br/>
            <a:r>
              <a:t>воздействия.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4e74d1450fe4a4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4A8BA-8B81-412F-A1F3-E74EDF97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5240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Партнёрство с государством 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муниципалитетами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2A4F4F-AE4F-46B3-9257-4F5B141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Основные направления взаимодействия:</a:t>
            </a:r>
          </a:p>
        </p:txBody>
      </p:sp>
      <p:sp>
        <p:nvSpPr>
          <p:cNvPr id="3" name="bullet">
            <a:extLst xmlns:a="http://schemas.openxmlformats.org/drawingml/2006/main">
              <a:ext uri="{FF2B5EF4-FFF2-40B4-BE49-F238E27FC236}">
                <a16:creationId xmlns:a16="http://schemas.microsoft.com/office/drawing/2014/main" id="{D6032CC0-CD2F-447D-8973-F927541E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91579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соблюдение трудового законодательства;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7F090191-82DE-4FA3-AB7B-F46F9686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37426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участие в программах занятости и профессиональной подготовки;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446B6898-E791-41B4-ACC8-902B96F5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83273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сотрудничество с образовательными учреждениями;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69E71B65-1C7F-4253-ACA9-6B214CC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9120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участие в региональных и муниципальных социальных проектах;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436BD961-0737-4E06-957A-4DA82380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749675"/>
            <a:ext cx="1028700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взаимодействие по вопросам развития территории и рынка труда.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dc32906b51f4e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CC10FB-A750-4FBF-A4D1-835D03AB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Практический пример комплексной модели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66E825-C069-43AB-8A02-1762A54D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Условный пример: в компании наблюдаются высокая текучесть кадров,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rPr>
              <a:t>недоверие к руководству и слабая вовлечённость работников.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989DE-76C8-4853-BAB0-2A17A05A4DC1}"/>
              </a:ext>
            </a:extLst>
          </p:cNvPr>
          <p:cNvGraphicFramePr/>
          <p:nvPr/>
        </p:nvGraphicFramePr>
        <p:xfrm>
          <a:off xmlns:a="http://schemas.openxmlformats.org/drawingml/2006/main" x="1081088" y="2288540"/>
          <a:ext xmlns:a="http://schemas.openxmlformats.org/drawingml/2006/main" cx="10287000" cy="3657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57650"/>
                <a:gridCol w="6229350"/>
              </a:tblGrid>
              <a:tr h="495300"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Проблема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02878F"/>
                      </a:solidFill>
                      <a:prstDash val="solid"/>
                    </a:lnL>
                    <a:lnR w="9525">
                      <a:solidFill>
                        <a:srgbClr val="02878F"/>
                      </a:solidFill>
                      <a:prstDash val="solid"/>
                    </a:lnR>
                    <a:lnT w="9525">
                      <a:solidFill>
                        <a:srgbClr val="02878F"/>
                      </a:solidFill>
                      <a:prstDash val="solid"/>
                    </a:lnT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02878F"/>
                    </a:solidFill>
                  </a:tcPr>
                </a:tc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Подход к решению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02878F"/>
                      </a:solidFill>
                      <a:prstDash val="solid"/>
                    </a:lnR>
                    <a:lnT w="9525">
                      <a:solidFill>
                        <a:srgbClr val="02878F"/>
                      </a:solidFill>
                      <a:prstDash val="solid"/>
                    </a:lnT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02878F"/>
                    </a:solidFill>
                  </a:tcPr>
                </a:tc>
              </a:tr>
              <a:tr h="628650"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Ощущение несправедливой</a:t>
                      </a:r>
                    </a:p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оплаты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02878F"/>
                      </a:solidFill>
                      <a:prstDash val="solid"/>
                    </a:lnL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Прозрачные критерии вознаграждения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Недоверие к руководству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02878F"/>
                      </a:solidFill>
                      <a:prstDash val="solid"/>
                    </a:lnL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Обратная связь и участие в обсуждении</a:t>
                      </a:r>
                    </a:p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решений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Отсутствие перспектив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02878F"/>
                      </a:solidFill>
                      <a:prstDash val="solid"/>
                    </a:lnL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Обучение и наставничество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Конфликты по условиям</a:t>
                      </a:r>
                    </a:p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труда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02878F"/>
                      </a:solidFill>
                      <a:prstDash val="solid"/>
                    </a:lnL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Социальное партнёрство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Слабые связи с местным</a:t>
                      </a:r>
                    </a:p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сообществом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02878F"/>
                      </a:solidFill>
                      <a:prstDash val="solid"/>
                    </a:lnL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57150" rIns="114300" bIns="57150">
                      <a:noAutofit/>
                    </a:bodyPr>
                    <a:lstStyle/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Сотрудничество с образовательными и</a:t>
                      </a:r>
                    </a:p>
                    <a:p>
                      <a:pPr>
                        <a:lnSpc>
                          <a:spcPct val="105000"/>
                        </a:lnSpc>
                        <a:buNone/>
                      </a:pPr>
                      <a:r>
                        <a:rPr sz="1900" b="0">
                          <a:solidFill>
                            <a:srgbClr val="262626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общественными организациями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02878F"/>
                      </a:solidFill>
                      <a:prstDash val="solid"/>
                    </a:lnR>
                    <a:lnB w="9525">
                      <a:solidFill>
                        <a:srgbClr val="028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eb9cdebd7644d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23320E-EC14-4A1C-8615-104D6C6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Условия эффективности и ограничения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BC7A41-F49C-43CA-8A52-8018008E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619250"/>
            <a:ext cx="485775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Условия эффективности:</a:t>
            </a:r>
          </a:p>
        </p:txBody>
      </p:sp>
      <p:sp>
        <p:nvSpPr>
          <p:cNvPr id="3" name="bullet">
            <a:extLst xmlns:a="http://schemas.openxmlformats.org/drawingml/2006/main">
              <a:ext uri="{FF2B5EF4-FFF2-40B4-BE49-F238E27FC236}">
                <a16:creationId xmlns:a16="http://schemas.microsoft.com/office/drawing/2014/main" id="{D6AD0D94-D47A-4CB0-83CE-8959FAE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16344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справедливые и понятные</a:t>
            </a:r>
            <a:br/>
            <a:r>
              <a:t>правила;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B1054D21-3529-4EC8-BF2C-667297C9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956560"/>
            <a:ext cx="485775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реальное участие работников;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008AD03D-B9EE-4438-A9DC-7825D3BF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46265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доверие и открытая</a:t>
            </a:r>
            <a:br/>
            <a:r>
              <a:t>коммуникация;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ADF702D1-DBD3-4927-AE0D-0AA45B7F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255770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согласование интересов</a:t>
            </a:r>
            <a:br/>
            <a:r>
              <a:t>участников;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A6A0F4F3-B35E-4A7F-9901-49FBD060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504888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оценка результатов и</a:t>
            </a:r>
            <a:br/>
            <a:r>
              <a:t>корректировка решений.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1EF75FF-E0C9-4886-8D9C-18FBB79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619250"/>
            <a:ext cx="485775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 b="1">
                <a:solidFill>
                  <a:srgbClr val="642F8F"/>
                </a:solidFill>
                <a:latin typeface="Century Gothic"/>
                <a:ea typeface="Century Gothic"/>
                <a:cs typeface="Century Gothic"/>
              </a:rPr>
              <a:t>Ограничения: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16C0ABD9-1560-428D-8FF3-5C47783D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216344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противоречия между</a:t>
            </a:r>
            <a:br/>
            <a:r>
              <a:t>интересами сторон;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2CF66E79-DCFB-4D8C-9D15-F16B15AD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2956560"/>
            <a:ext cx="4857750" cy="33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недостаток ресурсов;</a:t>
            </a:r>
          </a:p>
        </p:txBody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8B590E98-EC23-4526-87D0-590F7026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3462655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формальное участие и</a:t>
            </a:r>
            <a:br/>
            <a:r>
              <a:t>имитация диалога;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5DAB217D-90A3-4CCD-A9A6-40E2094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4255770"/>
            <a:ext cx="485775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непрозрачное распределение</a:t>
            </a:r>
            <a:br/>
            <a:r>
              <a:t>выгод;</a:t>
            </a:r>
          </a:p>
        </p:txBody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C81ABA04-1F9E-43CB-94AE-DBCA0B18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048885"/>
            <a:ext cx="4857750" cy="90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расхождение между</a:t>
            </a:r>
            <a:br/>
            <a:r>
              <a:t>публичными заявлениями и</a:t>
            </a:r>
            <a:br/>
            <a:r>
              <a:t>практикой.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8a95ca494b046a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761F8A-165A-4D0B-96CF-F9A4C4B0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23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Заключение</a:t>
            </a:r>
          </a:p>
        </p:txBody>
      </p:sp>
      <p:sp>
        <p:nvSpPr>
          <p:cNvPr id="2" name="bullet">
            <a:extLst xmlns:a="http://schemas.openxmlformats.org/drawingml/2006/main">
              <a:ext uri="{FF2B5EF4-FFF2-40B4-BE49-F238E27FC236}">
                <a16:creationId xmlns:a16="http://schemas.microsoft.com/office/drawing/2014/main" id="{5E328992-A94A-44B1-89B9-CB0C0850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145732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Социальная мотивация формируется через отношения, условия труда и</a:t>
            </a:r>
            <a:br/>
            <a:r>
              <a:t>распределение результатов деятельности.</a:t>
            </a:r>
          </a:p>
        </p:txBody>
      </p:sp>
      <p:sp>
        <p:nvSpPr>
          <p:cNvPr id="3" name="bullet">
            <a:extLst xmlns:a="http://schemas.openxmlformats.org/drawingml/2006/main">
              <a:ext uri="{FF2B5EF4-FFF2-40B4-BE49-F238E27FC236}">
                <a16:creationId xmlns:a16="http://schemas.microsoft.com/office/drawing/2014/main" id="{1EFA575A-8B4C-412C-934E-6272E040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20281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Внутренние модели регулируют отношения между собственниками,</a:t>
            </a:r>
            <a:br/>
            <a:r>
              <a:t>руководством и трудовым коллективом.</a:t>
            </a:r>
          </a:p>
        </p:txBody>
      </p:sp>
      <p:sp>
        <p:nvSpPr>
          <p:cNvPr id="4" name="bullet">
            <a:extLst xmlns:a="http://schemas.openxmlformats.org/drawingml/2006/main">
              <a:ext uri="{FF2B5EF4-FFF2-40B4-BE49-F238E27FC236}">
                <a16:creationId xmlns:a16="http://schemas.microsoft.com/office/drawing/2014/main" id="{3CF4F996-02A5-4676-A040-29A88C8A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294830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Стейкхолдерский подход позволяет учитывать интересы внешних</a:t>
            </a:r>
            <a:br/>
            <a:r>
              <a:t>участников.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4791B734-5EB9-4111-98CD-41E786F3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369379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КСО выступает одним из механизмов реализации ответственного</a:t>
            </a:r>
            <a:br/>
            <a:r>
              <a:t>взаимодействия с заинтересованными сторонами.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FC41BBA9-6CC4-4F84-9A5F-21D24930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" y="4439285"/>
            <a:ext cx="1028700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defPPr>
            <a:lvl1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7pPr>
            <a:lvl8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8pPr>
            <a:lvl9pPr algn="l"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2000" b="0">
                <a:solidFill>
                  <a:srgbClr val="262626"/>
                </a:solidFill>
                <a:latin typeface="Century Gothic"/>
                <a:ea typeface="Century Gothic"/>
                <a:cs typeface="Century Gothic"/>
              </a:defRPr>
            </a:pPr>
            <a:r>
              <a:t>Эффективная система предполагает сочетание материальных</a:t>
            </a:r>
            <a:br/>
            <a:r>
              <a:t>стимулов, справедливости, участия и социальной ответственности.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1435637543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2026-10-26T12:17:12.3840000Z</dcterms:created>
  <dcterms:modified xsi:type="dcterms:W3CDTF">2026-10-26T12:17:12.3840000Z</dcterms:modified>
</coreProperties>
</file>